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146846757"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11335"/>
    <a:srgbClr val="CC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63" d="100"/>
          <a:sy n="63" d="100"/>
        </p:scale>
        <p:origin x="764"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F5B83-D3DE-48FA-863C-8171A937116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7B2DC91-8810-4B59-99A3-BE67AC8626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57B5EF9-4DCF-43FB-A454-AA738D36363E}"/>
              </a:ext>
            </a:extLst>
          </p:cNvPr>
          <p:cNvSpPr>
            <a:spLocks noGrp="1"/>
          </p:cNvSpPr>
          <p:nvPr>
            <p:ph type="dt" sz="half" idx="10"/>
          </p:nvPr>
        </p:nvSpPr>
        <p:spPr/>
        <p:txBody>
          <a:bodyPr/>
          <a:lstStyle/>
          <a:p>
            <a:fld id="{30E00C34-FD40-44EB-8799-29D9715E0B7F}" type="datetimeFigureOut">
              <a:rPr lang="en-US" smtClean="0"/>
              <a:t>3/25/2026</a:t>
            </a:fld>
            <a:endParaRPr lang="en-US" dirty="0"/>
          </a:p>
        </p:txBody>
      </p:sp>
      <p:sp>
        <p:nvSpPr>
          <p:cNvPr id="5" name="Footer Placeholder 4">
            <a:extLst>
              <a:ext uri="{FF2B5EF4-FFF2-40B4-BE49-F238E27FC236}">
                <a16:creationId xmlns:a16="http://schemas.microsoft.com/office/drawing/2014/main" id="{6BD62945-8F7A-4B05-8C06-D46C2D160A5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C8BF07C-209A-4799-80FD-CF8C0958FD5A}"/>
              </a:ext>
            </a:extLst>
          </p:cNvPr>
          <p:cNvSpPr>
            <a:spLocks noGrp="1"/>
          </p:cNvSpPr>
          <p:nvPr>
            <p:ph type="sldNum" sz="quarter" idx="12"/>
          </p:nvPr>
        </p:nvSpPr>
        <p:spPr/>
        <p:txBody>
          <a:bodyPr/>
          <a:lstStyle/>
          <a:p>
            <a:fld id="{8078ED32-7890-462D-AE3E-8E8EDB416AF5}" type="slidenum">
              <a:rPr lang="en-US" smtClean="0"/>
              <a:t>‹#›</a:t>
            </a:fld>
            <a:endParaRPr lang="en-US" dirty="0"/>
          </a:p>
        </p:txBody>
      </p:sp>
    </p:spTree>
    <p:extLst>
      <p:ext uri="{BB962C8B-B14F-4D97-AF65-F5344CB8AC3E}">
        <p14:creationId xmlns:p14="http://schemas.microsoft.com/office/powerpoint/2010/main" val="1963371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32617-89C0-48A8-BE13-132F66D9C0B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FF52E83-CFAC-4902-9C3C-EA9FFCF710B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86C206-752D-41D7-B79D-3ABFFD5B661A}"/>
              </a:ext>
            </a:extLst>
          </p:cNvPr>
          <p:cNvSpPr>
            <a:spLocks noGrp="1"/>
          </p:cNvSpPr>
          <p:nvPr>
            <p:ph type="dt" sz="half" idx="10"/>
          </p:nvPr>
        </p:nvSpPr>
        <p:spPr/>
        <p:txBody>
          <a:bodyPr/>
          <a:lstStyle/>
          <a:p>
            <a:fld id="{30E00C34-FD40-44EB-8799-29D9715E0B7F}" type="datetimeFigureOut">
              <a:rPr lang="en-US" smtClean="0"/>
              <a:t>3/25/2026</a:t>
            </a:fld>
            <a:endParaRPr lang="en-US" dirty="0"/>
          </a:p>
        </p:txBody>
      </p:sp>
      <p:sp>
        <p:nvSpPr>
          <p:cNvPr id="5" name="Footer Placeholder 4">
            <a:extLst>
              <a:ext uri="{FF2B5EF4-FFF2-40B4-BE49-F238E27FC236}">
                <a16:creationId xmlns:a16="http://schemas.microsoft.com/office/drawing/2014/main" id="{3738C0EB-B18F-48CF-872B-E6C78690856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3056E16-FBE6-4FD6-BFF1-D73C63EAC837}"/>
              </a:ext>
            </a:extLst>
          </p:cNvPr>
          <p:cNvSpPr>
            <a:spLocks noGrp="1"/>
          </p:cNvSpPr>
          <p:nvPr>
            <p:ph type="sldNum" sz="quarter" idx="12"/>
          </p:nvPr>
        </p:nvSpPr>
        <p:spPr/>
        <p:txBody>
          <a:bodyPr/>
          <a:lstStyle/>
          <a:p>
            <a:fld id="{8078ED32-7890-462D-AE3E-8E8EDB416AF5}" type="slidenum">
              <a:rPr lang="en-US" smtClean="0"/>
              <a:t>‹#›</a:t>
            </a:fld>
            <a:endParaRPr lang="en-US" dirty="0"/>
          </a:p>
        </p:txBody>
      </p:sp>
    </p:spTree>
    <p:extLst>
      <p:ext uri="{BB962C8B-B14F-4D97-AF65-F5344CB8AC3E}">
        <p14:creationId xmlns:p14="http://schemas.microsoft.com/office/powerpoint/2010/main" val="2042317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B5452-795E-4433-8EFD-4BF35F2ABD1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8D9EE1F-B9DA-4FC2-8111-1751A64BD34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A010406-A65F-4968-8106-75C258CD44CA}"/>
              </a:ext>
            </a:extLst>
          </p:cNvPr>
          <p:cNvSpPr>
            <a:spLocks noGrp="1"/>
          </p:cNvSpPr>
          <p:nvPr>
            <p:ph type="dt" sz="half" idx="10"/>
          </p:nvPr>
        </p:nvSpPr>
        <p:spPr/>
        <p:txBody>
          <a:bodyPr/>
          <a:lstStyle/>
          <a:p>
            <a:fld id="{30E00C34-FD40-44EB-8799-29D9715E0B7F}" type="datetimeFigureOut">
              <a:rPr lang="en-US" smtClean="0"/>
              <a:t>3/25/2026</a:t>
            </a:fld>
            <a:endParaRPr lang="en-US" dirty="0"/>
          </a:p>
        </p:txBody>
      </p:sp>
      <p:sp>
        <p:nvSpPr>
          <p:cNvPr id="5" name="Footer Placeholder 4">
            <a:extLst>
              <a:ext uri="{FF2B5EF4-FFF2-40B4-BE49-F238E27FC236}">
                <a16:creationId xmlns:a16="http://schemas.microsoft.com/office/drawing/2014/main" id="{0C9564B9-84F3-42AC-9D83-FF6410D8E38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DD3630E-6383-4F0B-BE00-950A0ABD557B}"/>
              </a:ext>
            </a:extLst>
          </p:cNvPr>
          <p:cNvSpPr>
            <a:spLocks noGrp="1"/>
          </p:cNvSpPr>
          <p:nvPr>
            <p:ph type="sldNum" sz="quarter" idx="12"/>
          </p:nvPr>
        </p:nvSpPr>
        <p:spPr/>
        <p:txBody>
          <a:bodyPr/>
          <a:lstStyle/>
          <a:p>
            <a:fld id="{8078ED32-7890-462D-AE3E-8E8EDB416AF5}" type="slidenum">
              <a:rPr lang="en-US" smtClean="0"/>
              <a:t>‹#›</a:t>
            </a:fld>
            <a:endParaRPr lang="en-US" dirty="0"/>
          </a:p>
        </p:txBody>
      </p:sp>
    </p:spTree>
    <p:extLst>
      <p:ext uri="{BB962C8B-B14F-4D97-AF65-F5344CB8AC3E}">
        <p14:creationId xmlns:p14="http://schemas.microsoft.com/office/powerpoint/2010/main" val="9823474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D4339-A608-4998-8025-FC50D66AF7F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B84394-257C-430D-BF6E-C28EB8FF972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019BF3-B1B1-4523-B952-EA06F60411A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1DA4F06-59DB-4112-A05E-A75148B1858E}"/>
              </a:ext>
            </a:extLst>
          </p:cNvPr>
          <p:cNvSpPr>
            <a:spLocks noGrp="1"/>
          </p:cNvSpPr>
          <p:nvPr>
            <p:ph type="dt" sz="half" idx="10"/>
          </p:nvPr>
        </p:nvSpPr>
        <p:spPr/>
        <p:txBody>
          <a:bodyPr/>
          <a:lstStyle/>
          <a:p>
            <a:fld id="{30E00C34-FD40-44EB-8799-29D9715E0B7F}" type="datetimeFigureOut">
              <a:rPr lang="en-US" smtClean="0"/>
              <a:t>3/25/2026</a:t>
            </a:fld>
            <a:endParaRPr lang="en-US" dirty="0"/>
          </a:p>
        </p:txBody>
      </p:sp>
      <p:sp>
        <p:nvSpPr>
          <p:cNvPr id="6" name="Footer Placeholder 5">
            <a:extLst>
              <a:ext uri="{FF2B5EF4-FFF2-40B4-BE49-F238E27FC236}">
                <a16:creationId xmlns:a16="http://schemas.microsoft.com/office/drawing/2014/main" id="{5734A102-96FE-4483-9665-7EE7A400CEF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4F2686A-7EE6-4BEE-90C2-3FFAB0C54A6E}"/>
              </a:ext>
            </a:extLst>
          </p:cNvPr>
          <p:cNvSpPr>
            <a:spLocks noGrp="1"/>
          </p:cNvSpPr>
          <p:nvPr>
            <p:ph type="sldNum" sz="quarter" idx="12"/>
          </p:nvPr>
        </p:nvSpPr>
        <p:spPr/>
        <p:txBody>
          <a:bodyPr/>
          <a:lstStyle/>
          <a:p>
            <a:fld id="{8078ED32-7890-462D-AE3E-8E8EDB416AF5}" type="slidenum">
              <a:rPr lang="en-US" smtClean="0"/>
              <a:t>‹#›</a:t>
            </a:fld>
            <a:endParaRPr lang="en-US" dirty="0"/>
          </a:p>
        </p:txBody>
      </p:sp>
    </p:spTree>
    <p:extLst>
      <p:ext uri="{BB962C8B-B14F-4D97-AF65-F5344CB8AC3E}">
        <p14:creationId xmlns:p14="http://schemas.microsoft.com/office/powerpoint/2010/main" val="8222707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9CD49-FD48-477C-90B8-95BDCC86C12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79B1A79-AE51-4BD6-8CD0-A9132DEE0F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0522DF6-1040-436F-BB8C-265D2D9D071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56FFB03-9F7B-469A-A387-C39505CF14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55B3E38-9719-4E53-A5A5-E640D650CC5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78A2C96-3073-4E7C-AEDC-4899C24B34B6}"/>
              </a:ext>
            </a:extLst>
          </p:cNvPr>
          <p:cNvSpPr>
            <a:spLocks noGrp="1"/>
          </p:cNvSpPr>
          <p:nvPr>
            <p:ph type="dt" sz="half" idx="10"/>
          </p:nvPr>
        </p:nvSpPr>
        <p:spPr/>
        <p:txBody>
          <a:bodyPr/>
          <a:lstStyle/>
          <a:p>
            <a:fld id="{30E00C34-FD40-44EB-8799-29D9715E0B7F}" type="datetimeFigureOut">
              <a:rPr lang="en-US" smtClean="0"/>
              <a:t>3/25/2026</a:t>
            </a:fld>
            <a:endParaRPr lang="en-US" dirty="0"/>
          </a:p>
        </p:txBody>
      </p:sp>
      <p:sp>
        <p:nvSpPr>
          <p:cNvPr id="8" name="Footer Placeholder 7">
            <a:extLst>
              <a:ext uri="{FF2B5EF4-FFF2-40B4-BE49-F238E27FC236}">
                <a16:creationId xmlns:a16="http://schemas.microsoft.com/office/drawing/2014/main" id="{42F739C7-2F46-4A5D-BD89-0A365039137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2EBE45E-7894-43A4-8F36-0E8DFF645D25}"/>
              </a:ext>
            </a:extLst>
          </p:cNvPr>
          <p:cNvSpPr>
            <a:spLocks noGrp="1"/>
          </p:cNvSpPr>
          <p:nvPr>
            <p:ph type="sldNum" sz="quarter" idx="12"/>
          </p:nvPr>
        </p:nvSpPr>
        <p:spPr/>
        <p:txBody>
          <a:bodyPr/>
          <a:lstStyle/>
          <a:p>
            <a:fld id="{8078ED32-7890-462D-AE3E-8E8EDB416AF5}" type="slidenum">
              <a:rPr lang="en-US" smtClean="0"/>
              <a:t>‹#›</a:t>
            </a:fld>
            <a:endParaRPr lang="en-US" dirty="0"/>
          </a:p>
        </p:txBody>
      </p:sp>
    </p:spTree>
    <p:extLst>
      <p:ext uri="{BB962C8B-B14F-4D97-AF65-F5344CB8AC3E}">
        <p14:creationId xmlns:p14="http://schemas.microsoft.com/office/powerpoint/2010/main" val="36107399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EEFE3-14D7-4018-BDAD-2FCEBCA6EF0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35065C0-492E-4992-BB79-AD117A9D91B0}"/>
              </a:ext>
            </a:extLst>
          </p:cNvPr>
          <p:cNvSpPr>
            <a:spLocks noGrp="1"/>
          </p:cNvSpPr>
          <p:nvPr>
            <p:ph type="dt" sz="half" idx="10"/>
          </p:nvPr>
        </p:nvSpPr>
        <p:spPr/>
        <p:txBody>
          <a:bodyPr/>
          <a:lstStyle/>
          <a:p>
            <a:fld id="{30E00C34-FD40-44EB-8799-29D9715E0B7F}" type="datetimeFigureOut">
              <a:rPr lang="en-US" smtClean="0"/>
              <a:t>3/25/2026</a:t>
            </a:fld>
            <a:endParaRPr lang="en-US" dirty="0"/>
          </a:p>
        </p:txBody>
      </p:sp>
      <p:sp>
        <p:nvSpPr>
          <p:cNvPr id="4" name="Footer Placeholder 3">
            <a:extLst>
              <a:ext uri="{FF2B5EF4-FFF2-40B4-BE49-F238E27FC236}">
                <a16:creationId xmlns:a16="http://schemas.microsoft.com/office/drawing/2014/main" id="{2F37140B-0EA7-4A99-95E9-DE49DDBF6A0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C5A0F10-6369-44EB-ADE0-A078B34E36B9}"/>
              </a:ext>
            </a:extLst>
          </p:cNvPr>
          <p:cNvSpPr>
            <a:spLocks noGrp="1"/>
          </p:cNvSpPr>
          <p:nvPr>
            <p:ph type="sldNum" sz="quarter" idx="12"/>
          </p:nvPr>
        </p:nvSpPr>
        <p:spPr/>
        <p:txBody>
          <a:bodyPr/>
          <a:lstStyle/>
          <a:p>
            <a:fld id="{8078ED32-7890-462D-AE3E-8E8EDB416AF5}" type="slidenum">
              <a:rPr lang="en-US" smtClean="0"/>
              <a:t>‹#›</a:t>
            </a:fld>
            <a:endParaRPr lang="en-US" dirty="0"/>
          </a:p>
        </p:txBody>
      </p:sp>
    </p:spTree>
    <p:extLst>
      <p:ext uri="{BB962C8B-B14F-4D97-AF65-F5344CB8AC3E}">
        <p14:creationId xmlns:p14="http://schemas.microsoft.com/office/powerpoint/2010/main" val="19261088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5C23FDF-4DD8-494A-B7B3-0A1D4769A69A}"/>
              </a:ext>
            </a:extLst>
          </p:cNvPr>
          <p:cNvSpPr>
            <a:spLocks noGrp="1"/>
          </p:cNvSpPr>
          <p:nvPr>
            <p:ph type="dt" sz="half" idx="10"/>
          </p:nvPr>
        </p:nvSpPr>
        <p:spPr/>
        <p:txBody>
          <a:bodyPr/>
          <a:lstStyle/>
          <a:p>
            <a:fld id="{30E00C34-FD40-44EB-8799-29D9715E0B7F}" type="datetimeFigureOut">
              <a:rPr lang="en-US" smtClean="0"/>
              <a:t>3/25/2026</a:t>
            </a:fld>
            <a:endParaRPr lang="en-US" dirty="0"/>
          </a:p>
        </p:txBody>
      </p:sp>
      <p:sp>
        <p:nvSpPr>
          <p:cNvPr id="3" name="Footer Placeholder 2">
            <a:extLst>
              <a:ext uri="{FF2B5EF4-FFF2-40B4-BE49-F238E27FC236}">
                <a16:creationId xmlns:a16="http://schemas.microsoft.com/office/drawing/2014/main" id="{8F741094-FE33-4CB6-8D3A-B13AAF3BED93}"/>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0845DC3-448A-47E7-86F6-12E67FBD3F3C}"/>
              </a:ext>
            </a:extLst>
          </p:cNvPr>
          <p:cNvSpPr>
            <a:spLocks noGrp="1"/>
          </p:cNvSpPr>
          <p:nvPr>
            <p:ph type="sldNum" sz="quarter" idx="12"/>
          </p:nvPr>
        </p:nvSpPr>
        <p:spPr/>
        <p:txBody>
          <a:bodyPr/>
          <a:lstStyle/>
          <a:p>
            <a:fld id="{8078ED32-7890-462D-AE3E-8E8EDB416AF5}" type="slidenum">
              <a:rPr lang="en-US" smtClean="0"/>
              <a:t>‹#›</a:t>
            </a:fld>
            <a:endParaRPr lang="en-US" dirty="0"/>
          </a:p>
        </p:txBody>
      </p:sp>
    </p:spTree>
    <p:extLst>
      <p:ext uri="{BB962C8B-B14F-4D97-AF65-F5344CB8AC3E}">
        <p14:creationId xmlns:p14="http://schemas.microsoft.com/office/powerpoint/2010/main" val="18145068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E5C61-365E-4F33-ACD6-80DCEA5C36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D64D9A4-7A64-4320-A8C6-C45F7D6845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ED51683-4E82-438D-8E3E-EB07ED86FC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DABE44-3653-4F8B-84B3-D6B032FF4E24}"/>
              </a:ext>
            </a:extLst>
          </p:cNvPr>
          <p:cNvSpPr>
            <a:spLocks noGrp="1"/>
          </p:cNvSpPr>
          <p:nvPr>
            <p:ph type="dt" sz="half" idx="10"/>
          </p:nvPr>
        </p:nvSpPr>
        <p:spPr/>
        <p:txBody>
          <a:bodyPr/>
          <a:lstStyle/>
          <a:p>
            <a:fld id="{30E00C34-FD40-44EB-8799-29D9715E0B7F}" type="datetimeFigureOut">
              <a:rPr lang="en-US" smtClean="0"/>
              <a:t>3/25/2026</a:t>
            </a:fld>
            <a:endParaRPr lang="en-US" dirty="0"/>
          </a:p>
        </p:txBody>
      </p:sp>
      <p:sp>
        <p:nvSpPr>
          <p:cNvPr id="6" name="Footer Placeholder 5">
            <a:extLst>
              <a:ext uri="{FF2B5EF4-FFF2-40B4-BE49-F238E27FC236}">
                <a16:creationId xmlns:a16="http://schemas.microsoft.com/office/drawing/2014/main" id="{27DEA695-323A-46D0-B23F-62F71196053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5529EFC-FF5A-46FC-92AC-C8E1266111D9}"/>
              </a:ext>
            </a:extLst>
          </p:cNvPr>
          <p:cNvSpPr>
            <a:spLocks noGrp="1"/>
          </p:cNvSpPr>
          <p:nvPr>
            <p:ph type="sldNum" sz="quarter" idx="12"/>
          </p:nvPr>
        </p:nvSpPr>
        <p:spPr/>
        <p:txBody>
          <a:bodyPr/>
          <a:lstStyle/>
          <a:p>
            <a:fld id="{8078ED32-7890-462D-AE3E-8E8EDB416AF5}" type="slidenum">
              <a:rPr lang="en-US" smtClean="0"/>
              <a:t>‹#›</a:t>
            </a:fld>
            <a:endParaRPr lang="en-US" dirty="0"/>
          </a:p>
        </p:txBody>
      </p:sp>
    </p:spTree>
    <p:extLst>
      <p:ext uri="{BB962C8B-B14F-4D97-AF65-F5344CB8AC3E}">
        <p14:creationId xmlns:p14="http://schemas.microsoft.com/office/powerpoint/2010/main" val="38188148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49F3F-9059-4FD5-AF9B-C7D2DEE13B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667D88F-5457-41F8-A3A1-062E030DAB7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DD3E291-BABC-4B08-87FD-D0E9F989B7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EC2471-62A4-4F03-9EF2-E97F5035ADB3}"/>
              </a:ext>
            </a:extLst>
          </p:cNvPr>
          <p:cNvSpPr>
            <a:spLocks noGrp="1"/>
          </p:cNvSpPr>
          <p:nvPr>
            <p:ph type="dt" sz="half" idx="10"/>
          </p:nvPr>
        </p:nvSpPr>
        <p:spPr/>
        <p:txBody>
          <a:bodyPr/>
          <a:lstStyle/>
          <a:p>
            <a:fld id="{30E00C34-FD40-44EB-8799-29D9715E0B7F}" type="datetimeFigureOut">
              <a:rPr lang="en-US" smtClean="0"/>
              <a:t>3/25/2026</a:t>
            </a:fld>
            <a:endParaRPr lang="en-US" dirty="0"/>
          </a:p>
        </p:txBody>
      </p:sp>
      <p:sp>
        <p:nvSpPr>
          <p:cNvPr id="6" name="Footer Placeholder 5">
            <a:extLst>
              <a:ext uri="{FF2B5EF4-FFF2-40B4-BE49-F238E27FC236}">
                <a16:creationId xmlns:a16="http://schemas.microsoft.com/office/drawing/2014/main" id="{D21164FD-8AEC-4791-AC0F-239AA33CF36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D5DB41B-F7A1-43D3-AD44-47A3145ED7C9}"/>
              </a:ext>
            </a:extLst>
          </p:cNvPr>
          <p:cNvSpPr>
            <a:spLocks noGrp="1"/>
          </p:cNvSpPr>
          <p:nvPr>
            <p:ph type="sldNum" sz="quarter" idx="12"/>
          </p:nvPr>
        </p:nvSpPr>
        <p:spPr/>
        <p:txBody>
          <a:bodyPr/>
          <a:lstStyle/>
          <a:p>
            <a:fld id="{8078ED32-7890-462D-AE3E-8E8EDB416AF5}" type="slidenum">
              <a:rPr lang="en-US" smtClean="0"/>
              <a:t>‹#›</a:t>
            </a:fld>
            <a:endParaRPr lang="en-US" dirty="0"/>
          </a:p>
        </p:txBody>
      </p:sp>
    </p:spTree>
    <p:extLst>
      <p:ext uri="{BB962C8B-B14F-4D97-AF65-F5344CB8AC3E}">
        <p14:creationId xmlns:p14="http://schemas.microsoft.com/office/powerpoint/2010/main" val="2525933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92BB5-140E-42BF-8FC6-4B90397580B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CC1402-D07E-4304-BA54-E824E3BEE3D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8C126C-49D0-4530-9D15-DEA8A79595C8}"/>
              </a:ext>
            </a:extLst>
          </p:cNvPr>
          <p:cNvSpPr>
            <a:spLocks noGrp="1"/>
          </p:cNvSpPr>
          <p:nvPr>
            <p:ph type="dt" sz="half" idx="10"/>
          </p:nvPr>
        </p:nvSpPr>
        <p:spPr/>
        <p:txBody>
          <a:bodyPr/>
          <a:lstStyle/>
          <a:p>
            <a:fld id="{30E00C34-FD40-44EB-8799-29D9715E0B7F}" type="datetimeFigureOut">
              <a:rPr lang="en-US" smtClean="0"/>
              <a:t>3/25/2026</a:t>
            </a:fld>
            <a:endParaRPr lang="en-US" dirty="0"/>
          </a:p>
        </p:txBody>
      </p:sp>
      <p:sp>
        <p:nvSpPr>
          <p:cNvPr id="5" name="Footer Placeholder 4">
            <a:extLst>
              <a:ext uri="{FF2B5EF4-FFF2-40B4-BE49-F238E27FC236}">
                <a16:creationId xmlns:a16="http://schemas.microsoft.com/office/drawing/2014/main" id="{A1108296-C4A4-4753-8ACE-33BACAE6380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87FE000-2A6B-48AD-AF38-B9804C40CCE4}"/>
              </a:ext>
            </a:extLst>
          </p:cNvPr>
          <p:cNvSpPr>
            <a:spLocks noGrp="1"/>
          </p:cNvSpPr>
          <p:nvPr>
            <p:ph type="sldNum" sz="quarter" idx="12"/>
          </p:nvPr>
        </p:nvSpPr>
        <p:spPr/>
        <p:txBody>
          <a:bodyPr/>
          <a:lstStyle/>
          <a:p>
            <a:fld id="{8078ED32-7890-462D-AE3E-8E8EDB416AF5}" type="slidenum">
              <a:rPr lang="en-US" smtClean="0"/>
              <a:t>‹#›</a:t>
            </a:fld>
            <a:endParaRPr lang="en-US" dirty="0"/>
          </a:p>
        </p:txBody>
      </p:sp>
    </p:spTree>
    <p:extLst>
      <p:ext uri="{BB962C8B-B14F-4D97-AF65-F5344CB8AC3E}">
        <p14:creationId xmlns:p14="http://schemas.microsoft.com/office/powerpoint/2010/main" val="12749616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796C9BF-C84E-4CFA-8FDD-1F5F9EE362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46A71A4-7276-445F-A76B-0EE96CC9598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967A05-E7F5-4871-A1F7-33CF9E379ABC}"/>
              </a:ext>
            </a:extLst>
          </p:cNvPr>
          <p:cNvSpPr>
            <a:spLocks noGrp="1"/>
          </p:cNvSpPr>
          <p:nvPr>
            <p:ph type="dt" sz="half" idx="10"/>
          </p:nvPr>
        </p:nvSpPr>
        <p:spPr/>
        <p:txBody>
          <a:bodyPr/>
          <a:lstStyle/>
          <a:p>
            <a:fld id="{30E00C34-FD40-44EB-8799-29D9715E0B7F}" type="datetimeFigureOut">
              <a:rPr lang="en-US" smtClean="0"/>
              <a:t>3/25/2026</a:t>
            </a:fld>
            <a:endParaRPr lang="en-US" dirty="0"/>
          </a:p>
        </p:txBody>
      </p:sp>
      <p:sp>
        <p:nvSpPr>
          <p:cNvPr id="5" name="Footer Placeholder 4">
            <a:extLst>
              <a:ext uri="{FF2B5EF4-FFF2-40B4-BE49-F238E27FC236}">
                <a16:creationId xmlns:a16="http://schemas.microsoft.com/office/drawing/2014/main" id="{3C2CB238-7ABC-4C09-A2DF-1F0238F7456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4E58525-B628-4707-9B89-F11A0DE67C66}"/>
              </a:ext>
            </a:extLst>
          </p:cNvPr>
          <p:cNvSpPr>
            <a:spLocks noGrp="1"/>
          </p:cNvSpPr>
          <p:nvPr>
            <p:ph type="sldNum" sz="quarter" idx="12"/>
          </p:nvPr>
        </p:nvSpPr>
        <p:spPr/>
        <p:txBody>
          <a:bodyPr/>
          <a:lstStyle/>
          <a:p>
            <a:fld id="{8078ED32-7890-462D-AE3E-8E8EDB416AF5}" type="slidenum">
              <a:rPr lang="en-US" smtClean="0"/>
              <a:t>‹#›</a:t>
            </a:fld>
            <a:endParaRPr lang="en-US" dirty="0"/>
          </a:p>
        </p:txBody>
      </p:sp>
    </p:spTree>
    <p:extLst>
      <p:ext uri="{BB962C8B-B14F-4D97-AF65-F5344CB8AC3E}">
        <p14:creationId xmlns:p14="http://schemas.microsoft.com/office/powerpoint/2010/main" val="11357306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Headline Only">
    <p:spTree>
      <p:nvGrpSpPr>
        <p:cNvPr id="1" name=""/>
        <p:cNvGrpSpPr/>
        <p:nvPr/>
      </p:nvGrpSpPr>
      <p:grpSpPr>
        <a:xfrm>
          <a:off x="0" y="0"/>
          <a:ext cx="0" cy="0"/>
          <a:chOff x="0" y="0"/>
          <a:chExt cx="0" cy="0"/>
        </a:xfrm>
      </p:grpSpPr>
      <p:sp>
        <p:nvSpPr>
          <p:cNvPr id="14" name="Title 3">
            <a:extLst>
              <a:ext uri="{FF2B5EF4-FFF2-40B4-BE49-F238E27FC236}">
                <a16:creationId xmlns:a16="http://schemas.microsoft.com/office/drawing/2014/main" id="{D94E511A-D06C-4C84-B287-0321885616A6}"/>
              </a:ext>
            </a:extLst>
          </p:cNvPr>
          <p:cNvSpPr>
            <a:spLocks noGrp="1"/>
          </p:cNvSpPr>
          <p:nvPr>
            <p:ph type="title" hasCustomPrompt="1"/>
          </p:nvPr>
        </p:nvSpPr>
        <p:spPr>
          <a:xfrm>
            <a:off x="298175" y="222026"/>
            <a:ext cx="11392112" cy="647700"/>
          </a:xfrm>
          <a:prstGeom prst="rect">
            <a:avLst/>
          </a:prstGeom>
        </p:spPr>
        <p:txBody>
          <a:bodyPr anchor="ctr">
            <a:normAutofit/>
          </a:bodyPr>
          <a:lstStyle>
            <a:lvl1pPr>
              <a:lnSpc>
                <a:spcPct val="100000"/>
              </a:lnSpc>
              <a:defRPr lang="en-US" sz="3199" b="1" i="0" kern="1200" cap="all" baseline="0" dirty="0">
                <a:solidFill>
                  <a:srgbClr val="003BAE"/>
                </a:solidFill>
                <a:latin typeface="Graphik Black" panose="020B0503030202060203" pitchFamily="34" charset="77"/>
                <a:ea typeface="+mj-ea"/>
                <a:cs typeface="+mj-cs"/>
              </a:defRPr>
            </a:lvl1pPr>
          </a:lstStyle>
          <a:p>
            <a:pPr marL="0" lvl="0" indent="0" algn="l" defTabSz="913828" rtl="0" eaLnBrk="1" latinLnBrk="0" hangingPunct="1">
              <a:lnSpc>
                <a:spcPct val="70000"/>
              </a:lnSpc>
              <a:spcBef>
                <a:spcPct val="0"/>
              </a:spcBef>
              <a:buNone/>
            </a:pPr>
            <a:r>
              <a:rPr lang="en-US" dirty="0"/>
              <a:t>CLICK TO EDIT MASTER TITLE STYLE</a:t>
            </a:r>
          </a:p>
        </p:txBody>
      </p:sp>
      <p:sp>
        <p:nvSpPr>
          <p:cNvPr id="7" name="Rectangle 6">
            <a:extLst>
              <a:ext uri="{FF2B5EF4-FFF2-40B4-BE49-F238E27FC236}">
                <a16:creationId xmlns:a16="http://schemas.microsoft.com/office/drawing/2014/main" id="{ED146E96-5C54-374A-AFFA-A9C4BBF8F5CC}"/>
              </a:ext>
            </a:extLst>
          </p:cNvPr>
          <p:cNvSpPr/>
          <p:nvPr userDrawn="1"/>
        </p:nvSpPr>
        <p:spPr>
          <a:xfrm>
            <a:off x="0" y="8303"/>
            <a:ext cx="72056" cy="68548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8" name="Rectangle 7">
            <a:extLst>
              <a:ext uri="{FF2B5EF4-FFF2-40B4-BE49-F238E27FC236}">
                <a16:creationId xmlns:a16="http://schemas.microsoft.com/office/drawing/2014/main" id="{7BA956C3-9FFC-8742-B426-14370A8A6B92}"/>
              </a:ext>
            </a:extLst>
          </p:cNvPr>
          <p:cNvSpPr/>
          <p:nvPr userDrawn="1"/>
        </p:nvSpPr>
        <p:spPr>
          <a:xfrm>
            <a:off x="0" y="0"/>
            <a:ext cx="72056" cy="964196"/>
          </a:xfrm>
          <a:prstGeom prst="rect">
            <a:avLst/>
          </a:prstGeom>
          <a:solidFill>
            <a:srgbClr val="0F05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Tree>
    <p:extLst>
      <p:ext uri="{BB962C8B-B14F-4D97-AF65-F5344CB8AC3E}">
        <p14:creationId xmlns:p14="http://schemas.microsoft.com/office/powerpoint/2010/main" val="12760210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7A9CAFA-8F28-4388-A60E-7BD0D42AD3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D6339E1-ED20-4DA0-BB32-7376756D4E3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1291EF-A29B-4FF4-A2D2-F875BD48D4F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E00C34-FD40-44EB-8799-29D9715E0B7F}" type="datetimeFigureOut">
              <a:rPr lang="en-US" smtClean="0"/>
              <a:t>3/25/2026</a:t>
            </a:fld>
            <a:endParaRPr lang="en-US" dirty="0"/>
          </a:p>
        </p:txBody>
      </p:sp>
      <p:sp>
        <p:nvSpPr>
          <p:cNvPr id="5" name="Footer Placeholder 4">
            <a:extLst>
              <a:ext uri="{FF2B5EF4-FFF2-40B4-BE49-F238E27FC236}">
                <a16:creationId xmlns:a16="http://schemas.microsoft.com/office/drawing/2014/main" id="{4A1BBB97-2317-41E1-BC79-ED7D433F64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573D5023-EA42-4DBB-A54B-5BA12B6468A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78ED32-7890-462D-AE3E-8E8EDB416AF5}" type="slidenum">
              <a:rPr lang="en-US" smtClean="0"/>
              <a:t>‹#›</a:t>
            </a:fld>
            <a:endParaRPr lang="en-US" dirty="0"/>
          </a:p>
        </p:txBody>
      </p:sp>
    </p:spTree>
    <p:extLst>
      <p:ext uri="{BB962C8B-B14F-4D97-AF65-F5344CB8AC3E}">
        <p14:creationId xmlns:p14="http://schemas.microsoft.com/office/powerpoint/2010/main" val="9143446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Rounded Corners 42">
            <a:extLst>
              <a:ext uri="{FF2B5EF4-FFF2-40B4-BE49-F238E27FC236}">
                <a16:creationId xmlns:a16="http://schemas.microsoft.com/office/drawing/2014/main" id="{07E82241-BD15-422F-7E5F-57C81AFF3543}"/>
              </a:ext>
            </a:extLst>
          </p:cNvPr>
          <p:cNvSpPr/>
          <p:nvPr/>
        </p:nvSpPr>
        <p:spPr>
          <a:xfrm>
            <a:off x="3498885" y="388713"/>
            <a:ext cx="8693115" cy="6655668"/>
          </a:xfrm>
          <a:prstGeom prst="roundRect">
            <a:avLst>
              <a:gd name="adj" fmla="val 1152"/>
            </a:avLst>
          </a:prstGeom>
          <a:noFill/>
          <a:ln w="12700" cap="flat" cmpd="sng" algn="ctr">
            <a:noFill/>
            <a:prstDash val="solid"/>
            <a:miter lim="800000"/>
          </a:ln>
          <a:effectLst/>
        </p:spPr>
        <p:txBody>
          <a:bodyPr wrap="square" lIns="0" tIns="274320" rIns="0" bIns="0" rtlCol="0" anchor="t">
            <a:spAutoFit/>
          </a:bodyPr>
          <a:lstStyle/>
          <a:p>
            <a:pPr lvl="0"/>
            <a:r>
              <a:rPr lang="en-US" sz="1400" b="1" dirty="0">
                <a:cs typeface="Calibri" pitchFamily="34" charset="0"/>
              </a:rPr>
              <a:t>Technical Experience: </a:t>
            </a:r>
            <a:r>
              <a:rPr lang="en-US" sz="1400" dirty="0">
                <a:cs typeface="Calibri" pitchFamily="34" charset="0"/>
              </a:rPr>
              <a:t> 2 years of experience as an individual contributor in Quality Assurance and Software Testing. Skilled in developing test automation scripts for web applications using Selenium Webdriver and Core Java with TestNG Framework.  Involved in Functional, Integration and Regression testing of different applications in Agile environment. </a:t>
            </a:r>
          </a:p>
          <a:p>
            <a:pPr lvl="0"/>
            <a:endParaRPr lang="en-US" sz="1400" dirty="0">
              <a:cs typeface="Calibri" pitchFamily="34" charset="0"/>
            </a:endParaRPr>
          </a:p>
          <a:p>
            <a:pPr marL="0" marR="0" lvl="0" indent="0" algn="l" defTabSz="914400" rtl="0" eaLnBrk="0" fontAlgn="auto" latinLnBrk="0" hangingPunct="0">
              <a:lnSpc>
                <a:spcPct val="100000"/>
              </a:lnSpc>
              <a:spcBef>
                <a:spcPts val="0"/>
              </a:spcBef>
              <a:spcAft>
                <a:spcPts val="300"/>
              </a:spcAft>
              <a:buClr>
                <a:srgbClr val="E1000F"/>
              </a:buClr>
              <a:buSzPct val="100000"/>
              <a:buFontTx/>
              <a:buNone/>
              <a:tabLst/>
              <a:defRPr/>
            </a:pPr>
            <a:r>
              <a:rPr lang="en-US" sz="1400" b="1" dirty="0">
                <a:cs typeface="Calibri" pitchFamily="34" charset="0"/>
              </a:rPr>
              <a:t>Project Experience: </a:t>
            </a:r>
            <a:endParaRPr kumimoji="0" lang="en-US" sz="1400" b="1" i="0" u="none" strike="noStrike" kern="1200" cap="none" spc="0" normalizeH="0" baseline="0" noProof="0" dirty="0">
              <a:ln>
                <a:noFill/>
              </a:ln>
              <a:solidFill>
                <a:prstClr val="black"/>
              </a:solidFill>
              <a:effectLst/>
              <a:uLnTx/>
              <a:uFillTx/>
              <a:latin typeface="Graphik" panose="020B0503030202060203" pitchFamily="34" charset="0"/>
              <a:ea typeface="SimSun"/>
              <a:cs typeface="Calibri" pitchFamily="34" charset="0"/>
            </a:endParaRPr>
          </a:p>
          <a:p>
            <a:r>
              <a:rPr lang="en-US" sz="1400" b="1" u="sng" dirty="0">
                <a:solidFill>
                  <a:srgbClr val="000000"/>
                </a:solidFill>
              </a:rPr>
              <a:t>Project: Life Sciences Domain – Accenture (Mar 2025 – Present) NEAT</a:t>
            </a:r>
          </a:p>
          <a:p>
            <a:pPr marL="171450" indent="-171450">
              <a:buFont typeface="Arial" panose="020B0604020202020204" pitchFamily="34" charset="0"/>
              <a:buChar char="•"/>
            </a:pPr>
            <a:r>
              <a:rPr lang="en-US" sz="1400" dirty="0">
                <a:solidFill>
                  <a:srgbClr val="0D0D0D"/>
                </a:solidFill>
                <a:latin typeface="Söhne"/>
              </a:rPr>
              <a:t>Developed Automation Scripts using Selenium WebDriver and Core Java using Page Object Design pattern and TestNG</a:t>
            </a:r>
          </a:p>
          <a:p>
            <a:pPr marL="171450" indent="-171450">
              <a:buFont typeface="Arial" panose="020B0604020202020204" pitchFamily="34" charset="0"/>
              <a:buChar char="•"/>
            </a:pPr>
            <a:r>
              <a:rPr lang="en-US" sz="1400" dirty="0">
                <a:solidFill>
                  <a:srgbClr val="0D0D0D"/>
                </a:solidFill>
                <a:latin typeface="Söhne"/>
              </a:rPr>
              <a:t>Ran the Automation pack in Azure DevOps Pipeline using </a:t>
            </a:r>
            <a:r>
              <a:rPr lang="en-US" sz="1400" dirty="0" err="1">
                <a:solidFill>
                  <a:srgbClr val="0D0D0D"/>
                </a:solidFill>
                <a:latin typeface="Söhne"/>
              </a:rPr>
              <a:t>yaml</a:t>
            </a:r>
            <a:r>
              <a:rPr lang="en-US" sz="1400" dirty="0">
                <a:solidFill>
                  <a:srgbClr val="0D0D0D"/>
                </a:solidFill>
                <a:latin typeface="Söhne"/>
              </a:rPr>
              <a:t> file</a:t>
            </a:r>
          </a:p>
          <a:p>
            <a:pPr marL="171450" indent="-171450">
              <a:buFont typeface="Arial" panose="020B0604020202020204" pitchFamily="34" charset="0"/>
              <a:buChar char="•"/>
            </a:pPr>
            <a:r>
              <a:rPr lang="en-US" sz="1400" dirty="0">
                <a:solidFill>
                  <a:srgbClr val="0D0D0D"/>
                </a:solidFill>
                <a:latin typeface="Söhne"/>
              </a:rPr>
              <a:t>Created automation scripts for each sprint which ensured same issues faced were </a:t>
            </a:r>
            <a:r>
              <a:rPr lang="en-US" sz="1400">
                <a:solidFill>
                  <a:srgbClr val="0D0D0D"/>
                </a:solidFill>
                <a:latin typeface="Söhne"/>
              </a:rPr>
              <a:t>not reproducible</a:t>
            </a:r>
            <a:endParaRPr lang="en-US" sz="1400" dirty="0">
              <a:solidFill>
                <a:srgbClr val="0D0D0D"/>
              </a:solidFill>
              <a:latin typeface="Söhne"/>
            </a:endParaRPr>
          </a:p>
          <a:p>
            <a:pPr marL="171450" indent="-171450">
              <a:buFont typeface="Arial" panose="020B0604020202020204" pitchFamily="34" charset="0"/>
              <a:buChar char="•"/>
            </a:pPr>
            <a:r>
              <a:rPr lang="en-US" sz="1400" dirty="0">
                <a:solidFill>
                  <a:srgbClr val="0D0D0D"/>
                </a:solidFill>
                <a:latin typeface="Söhne"/>
              </a:rPr>
              <a:t>Executed Smoke, Integration and Regression Testing to ensure the proper working of various features </a:t>
            </a:r>
          </a:p>
          <a:p>
            <a:pPr marL="171450" indent="-171450">
              <a:buFont typeface="Arial" panose="020B0604020202020204" pitchFamily="34" charset="0"/>
              <a:buChar char="•"/>
            </a:pPr>
            <a:r>
              <a:rPr lang="en-US" sz="1400" dirty="0">
                <a:solidFill>
                  <a:srgbClr val="0D0D0D"/>
                </a:solidFill>
                <a:latin typeface="Söhne"/>
              </a:rPr>
              <a:t>Involved in functional Testing.</a:t>
            </a:r>
            <a:endParaRPr kumimoji="0" lang="en-US" sz="1400" b="1" i="0" u="none" strike="noStrike" kern="1200" cap="none" spc="0" normalizeH="0" baseline="0" noProof="0" dirty="0">
              <a:ln>
                <a:noFill/>
              </a:ln>
              <a:solidFill>
                <a:prstClr val="black"/>
              </a:solidFill>
              <a:effectLst/>
              <a:uLnTx/>
              <a:uFillTx/>
              <a:latin typeface="Graphik" panose="020B0503030202060203" pitchFamily="34" charset="0"/>
              <a:ea typeface="SimSun"/>
              <a:cs typeface="+mn-cs"/>
            </a:endParaRPr>
          </a:p>
          <a:p>
            <a:r>
              <a:rPr lang="en-US" sz="1400" b="1" u="sng" dirty="0">
                <a:solidFill>
                  <a:srgbClr val="000000"/>
                </a:solidFill>
              </a:rPr>
              <a:t>Project: Life Sciences Domain – Accenture (Jan 2025 – Feb 2025) 1P1R</a:t>
            </a:r>
          </a:p>
          <a:p>
            <a:pPr marL="171450" indent="-171450" algn="l">
              <a:buFont typeface="Arial" panose="020B0604020202020204" pitchFamily="34" charset="0"/>
              <a:buChar char="•"/>
            </a:pPr>
            <a:r>
              <a:rPr lang="en-US" sz="1400" dirty="0">
                <a:solidFill>
                  <a:srgbClr val="0D0D0D"/>
                </a:solidFill>
                <a:latin typeface="Söhne"/>
              </a:rPr>
              <a:t>Developed Automation Scripts using Selenium WebDriver and Core Java using Page Object Design pattern and TestNG</a:t>
            </a:r>
          </a:p>
          <a:p>
            <a:pPr marL="171450" indent="-171450" algn="l">
              <a:buFont typeface="Arial" panose="020B0604020202020204" pitchFamily="34" charset="0"/>
              <a:buChar char="•"/>
            </a:pPr>
            <a:r>
              <a:rPr lang="en-US" sz="1400" dirty="0">
                <a:solidFill>
                  <a:srgbClr val="0D0D0D"/>
                </a:solidFill>
                <a:latin typeface="Söhne"/>
              </a:rPr>
              <a:t>Ran the Automation pack in Azure DevOps Pipeline using </a:t>
            </a:r>
            <a:r>
              <a:rPr lang="en-US" sz="1400" dirty="0" err="1">
                <a:solidFill>
                  <a:srgbClr val="0D0D0D"/>
                </a:solidFill>
                <a:latin typeface="Söhne"/>
              </a:rPr>
              <a:t>yaml</a:t>
            </a:r>
            <a:r>
              <a:rPr lang="en-US" sz="1400" dirty="0">
                <a:solidFill>
                  <a:srgbClr val="0D0D0D"/>
                </a:solidFill>
                <a:latin typeface="Söhne"/>
              </a:rPr>
              <a:t> file</a:t>
            </a:r>
          </a:p>
          <a:p>
            <a:pPr marL="171450" indent="-171450">
              <a:buFont typeface="Arial" panose="020B0604020202020204" pitchFamily="34" charset="0"/>
              <a:buChar char="•"/>
            </a:pPr>
            <a:r>
              <a:rPr lang="en-US" sz="1400" dirty="0">
                <a:solidFill>
                  <a:srgbClr val="0D0D0D"/>
                </a:solidFill>
                <a:latin typeface="Söhne"/>
              </a:rPr>
              <a:t>Performed Data Driven Testing using Apache POI</a:t>
            </a:r>
          </a:p>
          <a:p>
            <a:pPr marL="171450" indent="-171450">
              <a:buFont typeface="Arial" panose="020B0604020202020204" pitchFamily="34" charset="0"/>
              <a:buChar char="•"/>
            </a:pPr>
            <a:r>
              <a:rPr lang="en-US" sz="1400" dirty="0">
                <a:solidFill>
                  <a:srgbClr val="0D0D0D"/>
                </a:solidFill>
                <a:latin typeface="Söhne"/>
              </a:rPr>
              <a:t>Executed Smoke, Integration and Regression Testing to ensure the proper working of various features </a:t>
            </a:r>
          </a:p>
          <a:p>
            <a:pPr marL="171450" indent="-171450" algn="l">
              <a:buFont typeface="Arial" panose="020B0604020202020204" pitchFamily="34" charset="0"/>
              <a:buChar char="•"/>
            </a:pPr>
            <a:r>
              <a:rPr lang="en-US" sz="1400" dirty="0">
                <a:solidFill>
                  <a:srgbClr val="0D0D0D"/>
                </a:solidFill>
                <a:latin typeface="Söhne"/>
              </a:rPr>
              <a:t>Involved in functional Testing.</a:t>
            </a:r>
          </a:p>
          <a:p>
            <a:pPr lvl="0"/>
            <a:endParaRPr lang="en-US" sz="1400" dirty="0">
              <a:cs typeface="Calibri" pitchFamily="34" charset="0"/>
            </a:endParaRPr>
          </a:p>
          <a:p>
            <a:r>
              <a:rPr lang="en-US" sz="1400" b="1" u="sng" dirty="0">
                <a:solidFill>
                  <a:srgbClr val="000000"/>
                </a:solidFill>
              </a:rPr>
              <a:t>Project: Life Sciences Domain –Accenture India (Jan 2024– Dec 2024) VERVE</a:t>
            </a:r>
          </a:p>
          <a:p>
            <a:pPr marL="171450" indent="-171450" algn="l">
              <a:buFont typeface="Arial" panose="020B0604020202020204" pitchFamily="34" charset="0"/>
              <a:buChar char="•"/>
            </a:pPr>
            <a:r>
              <a:rPr lang="en-US" sz="1400" dirty="0">
                <a:solidFill>
                  <a:srgbClr val="0D0D0D"/>
                </a:solidFill>
                <a:latin typeface="Söhne"/>
              </a:rPr>
              <a:t>Involved in functional Testing.</a:t>
            </a:r>
          </a:p>
          <a:p>
            <a:pPr marL="171450" marR="185420" indent="-171450">
              <a:buFont typeface="Arial" panose="020B0604020202020204" pitchFamily="34" charset="0"/>
              <a:buChar char="•"/>
            </a:pPr>
            <a:r>
              <a:rPr lang="en-US" sz="1400" dirty="0">
                <a:solidFill>
                  <a:srgbClr val="0D0D0D"/>
                </a:solidFill>
                <a:latin typeface="Söhne"/>
              </a:rPr>
              <a:t>Executed Smoke, Integration and Regression Testing to ensure the proper working of various features </a:t>
            </a:r>
          </a:p>
          <a:p>
            <a:pPr marL="171450" marR="185420" indent="-171450">
              <a:buFont typeface="Arial" panose="020B0604020202020204" pitchFamily="34" charset="0"/>
              <a:buChar char="•"/>
            </a:pPr>
            <a:r>
              <a:rPr lang="en-US" sz="1400" dirty="0">
                <a:solidFill>
                  <a:srgbClr val="0D0D0D"/>
                </a:solidFill>
                <a:latin typeface="Söhne"/>
              </a:rPr>
              <a:t>Worked closely with developers, business analysts, and other team members to maintain quality throughout the software development lifecycle.</a:t>
            </a:r>
          </a:p>
          <a:p>
            <a:pPr marL="171450" marR="185420" indent="-171450">
              <a:buFont typeface="Arial" panose="020B0604020202020204" pitchFamily="34" charset="0"/>
              <a:buChar char="•"/>
            </a:pPr>
            <a:r>
              <a:rPr lang="en-US" sz="1400" dirty="0">
                <a:solidFill>
                  <a:srgbClr val="0D0D0D"/>
                </a:solidFill>
                <a:latin typeface="Söhne"/>
              </a:rPr>
              <a:t>Documented test results and reported bugs.</a:t>
            </a:r>
          </a:p>
          <a:p>
            <a:pPr marR="185420"/>
            <a:endParaRPr lang="en-US" sz="1200" dirty="0">
              <a:solidFill>
                <a:srgbClr val="0D0D0D"/>
              </a:solidFill>
              <a:latin typeface="Söhne"/>
            </a:endParaRPr>
          </a:p>
          <a:p>
            <a:pPr algn="l"/>
            <a:endParaRPr lang="en-US" sz="1200" b="1" i="0" u="none" strike="noStrike" baseline="0" dirty="0">
              <a:solidFill>
                <a:schemeClr val="tx1">
                  <a:lumMod val="95000"/>
                  <a:lumOff val="5000"/>
                </a:schemeClr>
              </a:solidFill>
              <a:latin typeface="Graphik" panose="020B0503030202060203" pitchFamily="34" charset="0"/>
              <a:ea typeface="SimSun"/>
              <a:cs typeface="Arial" panose="020B0604020202020204" pitchFamily="34" charset="0"/>
            </a:endParaRPr>
          </a:p>
          <a:p>
            <a:pPr marL="171450" indent="-171450" algn="l">
              <a:buFont typeface="Arial" panose="020B0604020202020204" pitchFamily="34" charset="0"/>
              <a:buChar char="•"/>
            </a:pPr>
            <a:endParaRPr kumimoji="0" lang="en-US" sz="1200" b="1" kern="1200" cap="none" spc="0" normalizeH="0" noProof="0" dirty="0">
              <a:ln>
                <a:noFill/>
              </a:ln>
              <a:solidFill>
                <a:schemeClr val="tx1">
                  <a:lumMod val="95000"/>
                  <a:lumOff val="5000"/>
                </a:schemeClr>
              </a:solidFill>
              <a:effectLst/>
              <a:uLnTx/>
              <a:uFillTx/>
              <a:latin typeface="Graphik" panose="020B0503030202060203" pitchFamily="34" charset="0"/>
              <a:ea typeface="SimSun"/>
              <a:cs typeface="Arial" panose="020B0604020202020204" pitchFamily="34" charset="0"/>
            </a:endParaRPr>
          </a:p>
          <a:p>
            <a:pPr marL="171450" indent="-171450" algn="l">
              <a:buFont typeface="Arial" panose="020B0604020202020204" pitchFamily="34" charset="0"/>
              <a:buChar char="•"/>
            </a:pPr>
            <a:endParaRPr kumimoji="0" lang="en-US" sz="1200" b="1" i="0" u="none" strike="noStrike" kern="1200" cap="none" spc="0" normalizeH="0" baseline="0" noProof="0" dirty="0">
              <a:ln>
                <a:noFill/>
              </a:ln>
              <a:solidFill>
                <a:prstClr val="black"/>
              </a:solidFill>
              <a:effectLst/>
              <a:uLnTx/>
              <a:uFillTx/>
              <a:latin typeface="Graphik" panose="020B0503030202060203" pitchFamily="34" charset="0"/>
              <a:ea typeface="SimSun"/>
              <a:cs typeface="+mn-cs"/>
            </a:endParaRPr>
          </a:p>
        </p:txBody>
      </p:sp>
      <p:pic>
        <p:nvPicPr>
          <p:cNvPr id="27" name="Picture 26">
            <a:extLst>
              <a:ext uri="{FF2B5EF4-FFF2-40B4-BE49-F238E27FC236}">
                <a16:creationId xmlns:a16="http://schemas.microsoft.com/office/drawing/2014/main" id="{8D46D0EC-6358-8E68-689B-8E8C60888DF3}"/>
              </a:ext>
            </a:extLst>
          </p:cNvPr>
          <p:cNvPicPr>
            <a:picLocks noChangeAspect="1"/>
          </p:cNvPicPr>
          <p:nvPr/>
        </p:nvPicPr>
        <p:blipFill>
          <a:blip r:embed="rId2">
            <a:clrChange>
              <a:clrFrom>
                <a:srgbClr val="FFFFFF"/>
              </a:clrFrom>
              <a:clrTo>
                <a:srgbClr val="FFFFFF">
                  <a:alpha val="0"/>
                </a:srgbClr>
              </a:clrTo>
            </a:clrChange>
            <a:alphaModFix amt="12000"/>
          </a:blip>
          <a:stretch>
            <a:fillRect/>
          </a:stretch>
        </p:blipFill>
        <p:spPr>
          <a:xfrm>
            <a:off x="-18537" y="0"/>
            <a:ext cx="3465577" cy="6858000"/>
          </a:xfrm>
          <a:prstGeom prst="rect">
            <a:avLst/>
          </a:prstGeom>
          <a:gradFill>
            <a:gsLst>
              <a:gs pos="100000">
                <a:srgbClr val="B11335"/>
              </a:gs>
              <a:gs pos="10000">
                <a:srgbClr val="A32282"/>
              </a:gs>
              <a:gs pos="96000">
                <a:schemeClr val="accent1"/>
              </a:gs>
            </a:gsLst>
            <a:lin ang="2700000" scaled="1"/>
          </a:gradFill>
          <a:ln>
            <a:noFill/>
          </a:ln>
        </p:spPr>
      </p:pic>
      <p:sp>
        <p:nvSpPr>
          <p:cNvPr id="28" name="Rectangle: Rounded Corners 43">
            <a:extLst>
              <a:ext uri="{FF2B5EF4-FFF2-40B4-BE49-F238E27FC236}">
                <a16:creationId xmlns:a16="http://schemas.microsoft.com/office/drawing/2014/main" id="{37C6B9B9-6260-889B-13D6-7EDAB51EC844}"/>
              </a:ext>
            </a:extLst>
          </p:cNvPr>
          <p:cNvSpPr/>
          <p:nvPr/>
        </p:nvSpPr>
        <p:spPr>
          <a:xfrm>
            <a:off x="3543508" y="51783"/>
            <a:ext cx="2900700" cy="336930"/>
          </a:xfrm>
          <a:prstGeom prst="roundRect">
            <a:avLst>
              <a:gd name="adj" fmla="val 49558"/>
            </a:avLst>
          </a:prstGeom>
          <a:solidFill>
            <a:schemeClr val="accent1"/>
          </a:solidFill>
          <a:ln w="12700" cap="flat" cmpd="sng" algn="ctr">
            <a:noFill/>
            <a:prstDash val="solid"/>
            <a:miter lim="800000"/>
          </a:ln>
          <a:effectLst/>
        </p:spPr>
        <p:txBody>
          <a:bodyPr lIns="0" tIns="0" rIns="0" bIns="0" rtlCol="0" anchor="ctr"/>
          <a:lstStyle/>
          <a:p>
            <a:pPr marL="119064" defTabSz="913674">
              <a:defRPr/>
            </a:pPr>
            <a:r>
              <a:rPr lang="en-US" sz="1200" b="1" kern="0" cap="all" dirty="0">
                <a:solidFill>
                  <a:prstClr val="white"/>
                </a:solidFill>
                <a:latin typeface="Graphik" panose="020B0503030202060203" pitchFamily="34" charset="0"/>
                <a:cs typeface="Arial" panose="020B0604020202020204" pitchFamily="34" charset="0"/>
              </a:rPr>
              <a:t>Experience Highlights</a:t>
            </a:r>
          </a:p>
        </p:txBody>
      </p:sp>
      <p:sp>
        <p:nvSpPr>
          <p:cNvPr id="29" name="Rectangle: Rounded Corners 43">
            <a:extLst>
              <a:ext uri="{FF2B5EF4-FFF2-40B4-BE49-F238E27FC236}">
                <a16:creationId xmlns:a16="http://schemas.microsoft.com/office/drawing/2014/main" id="{26F3459B-53BA-6904-013F-77E109786225}"/>
              </a:ext>
            </a:extLst>
          </p:cNvPr>
          <p:cNvSpPr/>
          <p:nvPr/>
        </p:nvSpPr>
        <p:spPr>
          <a:xfrm>
            <a:off x="0" y="85758"/>
            <a:ext cx="3341559" cy="302955"/>
          </a:xfrm>
          <a:prstGeom prst="roundRect">
            <a:avLst>
              <a:gd name="adj" fmla="val 50000"/>
            </a:avLst>
          </a:prstGeom>
          <a:noFill/>
          <a:ln w="12700" cap="flat" cmpd="sng" algn="ctr">
            <a:noFill/>
            <a:prstDash val="solid"/>
            <a:miter lim="800000"/>
          </a:ln>
          <a:effectLst/>
        </p:spPr>
        <p:txBody>
          <a:bodyPr wrap="square" lIns="0" tIns="0" rIns="0" bIns="0" rtlCol="0" anchor="ctr">
            <a:spAutoFit/>
          </a:bodyPr>
          <a:lstStyle/>
          <a:p>
            <a:pPr defTabSz="913674">
              <a:defRPr/>
            </a:pPr>
            <a:r>
              <a:rPr lang="en-US" sz="1400" b="1" kern="0" cap="all" dirty="0">
                <a:solidFill>
                  <a:schemeClr val="bg1"/>
                </a:solidFill>
                <a:latin typeface="Graphik Black" panose="020B0A03030202060203" pitchFamily="34" charset="0"/>
                <a:cs typeface="Arial" panose="020B0604020202020204" pitchFamily="34" charset="0"/>
              </a:rPr>
              <a:t>  Professional Overview</a:t>
            </a:r>
          </a:p>
        </p:txBody>
      </p:sp>
      <p:sp>
        <p:nvSpPr>
          <p:cNvPr id="30" name="TextBox 29">
            <a:extLst>
              <a:ext uri="{FF2B5EF4-FFF2-40B4-BE49-F238E27FC236}">
                <a16:creationId xmlns:a16="http://schemas.microsoft.com/office/drawing/2014/main" id="{F4152B5C-D9E7-FFCF-00E8-582BD4612678}"/>
              </a:ext>
            </a:extLst>
          </p:cNvPr>
          <p:cNvSpPr txBox="1"/>
          <p:nvPr/>
        </p:nvSpPr>
        <p:spPr>
          <a:xfrm>
            <a:off x="1273674" y="617921"/>
            <a:ext cx="2768922" cy="215444"/>
          </a:xfrm>
          <a:prstGeom prst="rect">
            <a:avLst/>
          </a:prstGeom>
          <a:noFill/>
        </p:spPr>
        <p:txBody>
          <a:bodyPr wrap="square" lIns="0" tIns="0" rIns="0" bIns="0" rtlCol="0">
            <a:spAutoFit/>
          </a:bodyPr>
          <a:lstStyle/>
          <a:p>
            <a:pPr eaLnBrk="0" hangingPunct="0">
              <a:spcAft>
                <a:spcPts val="600"/>
              </a:spcAft>
              <a:buClr>
                <a:srgbClr val="000000"/>
              </a:buClr>
              <a:defRPr/>
            </a:pPr>
            <a:r>
              <a:rPr lang="en-US" sz="1400" b="1" dirty="0">
                <a:solidFill>
                  <a:schemeClr val="bg1"/>
                </a:solidFill>
                <a:latin typeface="Graphik Black" panose="020B0A03030202060203" pitchFamily="34" charset="0"/>
                <a:cs typeface="Arial" charset="0"/>
              </a:rPr>
              <a:t>Abhinav Shaji</a:t>
            </a:r>
          </a:p>
        </p:txBody>
      </p:sp>
      <p:sp>
        <p:nvSpPr>
          <p:cNvPr id="31" name="Rectangle 30">
            <a:extLst>
              <a:ext uri="{FF2B5EF4-FFF2-40B4-BE49-F238E27FC236}">
                <a16:creationId xmlns:a16="http://schemas.microsoft.com/office/drawing/2014/main" id="{08A6E241-4DC4-DAFF-D124-D157C074789E}"/>
              </a:ext>
            </a:extLst>
          </p:cNvPr>
          <p:cNvSpPr/>
          <p:nvPr/>
        </p:nvSpPr>
        <p:spPr>
          <a:xfrm>
            <a:off x="119270" y="526774"/>
            <a:ext cx="1013791" cy="119269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Photo</a:t>
            </a:r>
          </a:p>
        </p:txBody>
      </p:sp>
      <p:sp>
        <p:nvSpPr>
          <p:cNvPr id="32" name="TextBox 31">
            <a:extLst>
              <a:ext uri="{FF2B5EF4-FFF2-40B4-BE49-F238E27FC236}">
                <a16:creationId xmlns:a16="http://schemas.microsoft.com/office/drawing/2014/main" id="{6176F4E6-BD00-4027-8C72-9664275A2306}"/>
              </a:ext>
            </a:extLst>
          </p:cNvPr>
          <p:cNvSpPr txBox="1"/>
          <p:nvPr/>
        </p:nvSpPr>
        <p:spPr>
          <a:xfrm>
            <a:off x="1182578" y="864157"/>
            <a:ext cx="2153783" cy="461665"/>
          </a:xfrm>
          <a:prstGeom prst="rect">
            <a:avLst/>
          </a:prstGeom>
          <a:noFill/>
        </p:spPr>
        <p:txBody>
          <a:bodyPr wrap="square" rtlCol="0">
            <a:spAutoFit/>
          </a:bodyPr>
          <a:lstStyle/>
          <a:p>
            <a:r>
              <a:rPr lang="en-IN" sz="1200" dirty="0">
                <a:solidFill>
                  <a:schemeClr val="bg1"/>
                </a:solidFill>
              </a:rPr>
              <a:t>Quality Engineer Associate</a:t>
            </a:r>
          </a:p>
          <a:p>
            <a:r>
              <a:rPr lang="en-IN" sz="1200" dirty="0">
                <a:solidFill>
                  <a:schemeClr val="bg1"/>
                </a:solidFill>
              </a:rPr>
              <a:t>Ph No: 6282867740</a:t>
            </a:r>
          </a:p>
        </p:txBody>
      </p:sp>
      <p:sp>
        <p:nvSpPr>
          <p:cNvPr id="33" name="Rectangle 32">
            <a:extLst>
              <a:ext uri="{FF2B5EF4-FFF2-40B4-BE49-F238E27FC236}">
                <a16:creationId xmlns:a16="http://schemas.microsoft.com/office/drawing/2014/main" id="{AE4A40C8-D9B5-3B23-9738-6B656CFE625E}"/>
              </a:ext>
            </a:extLst>
          </p:cNvPr>
          <p:cNvSpPr/>
          <p:nvPr/>
        </p:nvSpPr>
        <p:spPr>
          <a:xfrm>
            <a:off x="105482" y="1733330"/>
            <a:ext cx="3341558" cy="1231106"/>
          </a:xfrm>
          <a:prstGeom prst="rect">
            <a:avLst/>
          </a:prstGeom>
        </p:spPr>
        <p:txBody>
          <a:bodyPr wrap="square">
            <a:spAutoFit/>
          </a:bodyPr>
          <a:lstStyle/>
          <a:p>
            <a:pPr defTabSz="911225" eaLnBrk="0" hangingPunct="0"/>
            <a:r>
              <a:rPr lang="en-US" sz="1000" dirty="0">
                <a:solidFill>
                  <a:schemeClr val="bg1"/>
                </a:solidFill>
              </a:rPr>
              <a:t>I am a dedicated Software Test Engineer with hands-on experience in both manual testing and automation testing using Selenium with Java. </a:t>
            </a:r>
            <a:r>
              <a:rPr lang="en-US" sz="1400" dirty="0">
                <a:solidFill>
                  <a:schemeClr val="bg1"/>
                </a:solidFill>
              </a:rPr>
              <a:t>I’ve</a:t>
            </a:r>
            <a:r>
              <a:rPr lang="en-US" sz="1000" dirty="0">
                <a:solidFill>
                  <a:schemeClr val="bg1"/>
                </a:solidFill>
              </a:rPr>
              <a:t> been actively involved in test planning, execution, and reporting, ensuring high-quality deliverables across various projects. With a strong focus on accuracy and efficiency, I aim to contribute to delivering robust and reliable software products.</a:t>
            </a:r>
            <a:endParaRPr lang="en-US" altLang="en-US" sz="1000" dirty="0">
              <a:solidFill>
                <a:schemeClr val="bg1"/>
              </a:solidFill>
              <a:cs typeface="Calibri" pitchFamily="34" charset="0"/>
            </a:endParaRPr>
          </a:p>
        </p:txBody>
      </p:sp>
      <p:sp>
        <p:nvSpPr>
          <p:cNvPr id="34" name="Rectangle: Rounded Corners 43">
            <a:extLst>
              <a:ext uri="{FF2B5EF4-FFF2-40B4-BE49-F238E27FC236}">
                <a16:creationId xmlns:a16="http://schemas.microsoft.com/office/drawing/2014/main" id="{5F96BDF4-29F0-210E-B248-190E0040FF24}"/>
              </a:ext>
            </a:extLst>
          </p:cNvPr>
          <p:cNvSpPr/>
          <p:nvPr/>
        </p:nvSpPr>
        <p:spPr>
          <a:xfrm>
            <a:off x="102968" y="2913869"/>
            <a:ext cx="1523566" cy="259675"/>
          </a:xfrm>
          <a:prstGeom prst="roundRect">
            <a:avLst>
              <a:gd name="adj" fmla="val 50000"/>
            </a:avLst>
          </a:prstGeom>
          <a:noFill/>
          <a:ln w="12700" cap="flat" cmpd="sng" algn="ctr">
            <a:noFill/>
            <a:prstDash val="solid"/>
            <a:miter lim="800000"/>
          </a:ln>
          <a:effectLst/>
        </p:spPr>
        <p:txBody>
          <a:bodyPr lIns="0" tIns="0" rIns="0" bIns="0" rtlCol="0" anchor="ctr">
            <a:spAutoFit/>
          </a:bodyPr>
          <a:lstStyle/>
          <a:p>
            <a:pPr marL="119064" defTabSz="913674">
              <a:defRPr/>
            </a:pPr>
            <a:r>
              <a:rPr lang="en-US" sz="1200" b="1" kern="0" cap="all" dirty="0">
                <a:solidFill>
                  <a:schemeClr val="bg1"/>
                </a:solidFill>
                <a:cs typeface="Arial" panose="020B0604020202020204" pitchFamily="34" charset="0"/>
              </a:rPr>
              <a:t>RELEVANT Skills</a:t>
            </a:r>
          </a:p>
        </p:txBody>
      </p:sp>
      <p:sp>
        <p:nvSpPr>
          <p:cNvPr id="36" name="Rectangle 35">
            <a:extLst>
              <a:ext uri="{FF2B5EF4-FFF2-40B4-BE49-F238E27FC236}">
                <a16:creationId xmlns:a16="http://schemas.microsoft.com/office/drawing/2014/main" id="{8936A817-9DFB-6FF3-A89A-B68710A13A16}"/>
              </a:ext>
            </a:extLst>
          </p:cNvPr>
          <p:cNvSpPr/>
          <p:nvPr/>
        </p:nvSpPr>
        <p:spPr>
          <a:xfrm>
            <a:off x="52149" y="3182972"/>
            <a:ext cx="1888922" cy="2923877"/>
          </a:xfrm>
          <a:prstGeom prst="rect">
            <a:avLst/>
          </a:prstGeom>
        </p:spPr>
        <p:txBody>
          <a:bodyPr wrap="square">
            <a:spAutoFit/>
          </a:bodyPr>
          <a:lstStyle/>
          <a:p>
            <a:pPr marL="171451" indent="-171451">
              <a:buFont typeface="Arial" panose="020B0604020202020204" pitchFamily="34" charset="0"/>
              <a:buChar char="•"/>
            </a:pPr>
            <a:r>
              <a:rPr lang="en-US" sz="1000" b="1" dirty="0">
                <a:solidFill>
                  <a:schemeClr val="bg1"/>
                </a:solidFill>
                <a:cs typeface="Arial" panose="020B0604020202020204" pitchFamily="34" charset="0"/>
              </a:rPr>
              <a:t>Selenium Webdriver</a:t>
            </a:r>
          </a:p>
          <a:p>
            <a:pPr marL="171451" indent="-171451">
              <a:buFont typeface="Arial" panose="020B0604020202020204" pitchFamily="34" charset="0"/>
              <a:buChar char="•"/>
            </a:pPr>
            <a:r>
              <a:rPr lang="en-US" sz="1000" b="1" dirty="0">
                <a:solidFill>
                  <a:schemeClr val="bg1"/>
                </a:solidFill>
                <a:cs typeface="Arial" panose="020B0604020202020204" pitchFamily="34" charset="0"/>
              </a:rPr>
              <a:t>Java</a:t>
            </a:r>
          </a:p>
          <a:p>
            <a:pPr marL="171451" indent="-171451">
              <a:buFont typeface="Arial" panose="020B0604020202020204" pitchFamily="34" charset="0"/>
              <a:buChar char="•"/>
            </a:pPr>
            <a:r>
              <a:rPr lang="en-US" sz="1000" b="1" dirty="0">
                <a:solidFill>
                  <a:schemeClr val="bg1"/>
                </a:solidFill>
                <a:cs typeface="Arial" panose="020B0604020202020204" pitchFamily="34" charset="0"/>
              </a:rPr>
              <a:t>TestNG</a:t>
            </a:r>
          </a:p>
          <a:p>
            <a:pPr marL="171451" indent="-171451">
              <a:buFont typeface="Arial" panose="020B0604020202020204" pitchFamily="34" charset="0"/>
              <a:buChar char="•"/>
            </a:pPr>
            <a:r>
              <a:rPr lang="en-US" sz="1000" b="1" dirty="0">
                <a:solidFill>
                  <a:schemeClr val="bg1"/>
                </a:solidFill>
                <a:cs typeface="Arial" panose="020B0604020202020204" pitchFamily="34" charset="0"/>
              </a:rPr>
              <a:t>POM Design pattern</a:t>
            </a:r>
          </a:p>
          <a:p>
            <a:pPr marL="171451" indent="-171451">
              <a:buFont typeface="Arial" panose="020B0604020202020204" pitchFamily="34" charset="0"/>
              <a:buChar char="•"/>
            </a:pPr>
            <a:r>
              <a:rPr lang="en-US" sz="1000" b="1" dirty="0">
                <a:solidFill>
                  <a:schemeClr val="bg1"/>
                </a:solidFill>
                <a:cs typeface="Arial" panose="020B0604020202020204" pitchFamily="34" charset="0"/>
              </a:rPr>
              <a:t>Functional Testing</a:t>
            </a:r>
          </a:p>
          <a:p>
            <a:pPr marL="171451" indent="-171451">
              <a:buFont typeface="Arial" panose="020B0604020202020204" pitchFamily="34" charset="0"/>
              <a:buChar char="•"/>
            </a:pPr>
            <a:r>
              <a:rPr lang="en-US" sz="1000" b="1" dirty="0">
                <a:solidFill>
                  <a:schemeClr val="bg1"/>
                </a:solidFill>
                <a:cs typeface="Arial" panose="020B0604020202020204" pitchFamily="34" charset="0"/>
              </a:rPr>
              <a:t>Regression Testing</a:t>
            </a:r>
          </a:p>
          <a:p>
            <a:pPr marL="171451" indent="-171451">
              <a:buFont typeface="Arial" panose="020B0604020202020204" pitchFamily="34" charset="0"/>
              <a:buChar char="•"/>
            </a:pPr>
            <a:r>
              <a:rPr lang="en-US" sz="1000" b="1" dirty="0">
                <a:solidFill>
                  <a:schemeClr val="bg1"/>
                </a:solidFill>
                <a:cs typeface="Arial" panose="020B0604020202020204" pitchFamily="34" charset="0"/>
              </a:rPr>
              <a:t>Github</a:t>
            </a:r>
          </a:p>
          <a:p>
            <a:pPr marL="171451" indent="-171451">
              <a:buFont typeface="Arial" panose="020B0604020202020204" pitchFamily="34" charset="0"/>
              <a:buChar char="•"/>
            </a:pPr>
            <a:r>
              <a:rPr lang="en-US" sz="1000" b="1" dirty="0">
                <a:solidFill>
                  <a:schemeClr val="bg1"/>
                </a:solidFill>
                <a:cs typeface="Arial" panose="020B0604020202020204" pitchFamily="34" charset="0"/>
              </a:rPr>
              <a:t>Agile and scrums methodologies</a:t>
            </a:r>
          </a:p>
          <a:p>
            <a:pPr marL="171451" indent="-171451">
              <a:buFont typeface="Arial" panose="020B0604020202020204" pitchFamily="34" charset="0"/>
              <a:buChar char="•"/>
            </a:pPr>
            <a:r>
              <a:rPr lang="en-US" sz="1000" b="1" dirty="0">
                <a:solidFill>
                  <a:schemeClr val="bg1"/>
                </a:solidFill>
                <a:cs typeface="Arial" panose="020B0604020202020204" pitchFamily="34" charset="0"/>
              </a:rPr>
              <a:t>Azure DevOps</a:t>
            </a:r>
          </a:p>
          <a:p>
            <a:pPr marL="171451" indent="-171451">
              <a:buFont typeface="Arial" panose="020B0604020202020204" pitchFamily="34" charset="0"/>
              <a:buChar char="•"/>
            </a:pPr>
            <a:r>
              <a:rPr lang="en-US" sz="1000" b="1" dirty="0">
                <a:solidFill>
                  <a:schemeClr val="bg1"/>
                </a:solidFill>
                <a:cs typeface="Arial" panose="020B0604020202020204" pitchFamily="34" charset="0"/>
              </a:rPr>
              <a:t>JavaScript</a:t>
            </a:r>
          </a:p>
          <a:p>
            <a:endParaRPr lang="en-US" sz="1000" b="1" dirty="0">
              <a:solidFill>
                <a:schemeClr val="bg1"/>
              </a:solidFill>
              <a:cs typeface="Arial" panose="020B0604020202020204" pitchFamily="34" charset="0"/>
            </a:endParaRPr>
          </a:p>
          <a:p>
            <a:pPr marL="171451" indent="-171451">
              <a:buFont typeface="Arial" panose="020B0604020202020204" pitchFamily="34" charset="0"/>
              <a:buChar char="•"/>
            </a:pPr>
            <a:endParaRPr lang="en-US" sz="1000" b="1" dirty="0">
              <a:solidFill>
                <a:schemeClr val="bg1"/>
              </a:solidFill>
              <a:cs typeface="Arial" panose="020B0604020202020204" pitchFamily="34" charset="0"/>
            </a:endParaRPr>
          </a:p>
          <a:p>
            <a:endParaRPr lang="en-US" sz="1000" b="1" dirty="0">
              <a:solidFill>
                <a:schemeClr val="bg1"/>
              </a:solidFill>
              <a:cs typeface="Arial" panose="020B0604020202020204" pitchFamily="34" charset="0"/>
            </a:endParaRPr>
          </a:p>
          <a:p>
            <a:r>
              <a:rPr lang="en-US" sz="1400" b="1" dirty="0">
                <a:solidFill>
                  <a:schemeClr val="bg1"/>
                </a:solidFill>
                <a:cs typeface="Arial" panose="020B0604020202020204" pitchFamily="34" charset="0"/>
              </a:rPr>
              <a:t>Achievement:</a:t>
            </a:r>
          </a:p>
          <a:p>
            <a:pPr marL="171450" indent="-171450">
              <a:buFont typeface="Arial" panose="020B0604020202020204" pitchFamily="34" charset="0"/>
              <a:buChar char="•"/>
            </a:pPr>
            <a:r>
              <a:rPr lang="en-US" sz="1000" b="1" dirty="0">
                <a:solidFill>
                  <a:schemeClr val="bg1"/>
                </a:solidFill>
                <a:cs typeface="Arial" panose="020B0604020202020204" pitchFamily="34" charset="0"/>
              </a:rPr>
              <a:t>Merit holder in Tech Expressway Program</a:t>
            </a:r>
          </a:p>
          <a:p>
            <a:pPr marL="171450" indent="-171450">
              <a:buFont typeface="Arial" panose="020B0604020202020204" pitchFamily="34" charset="0"/>
              <a:buChar char="•"/>
            </a:pPr>
            <a:endParaRPr lang="en-US" sz="1000" b="1" dirty="0">
              <a:solidFill>
                <a:schemeClr val="bg1"/>
              </a:solidFill>
              <a:cs typeface="Arial" panose="020B0604020202020204" pitchFamily="34" charset="0"/>
            </a:endParaRPr>
          </a:p>
        </p:txBody>
      </p:sp>
      <p:sp>
        <p:nvSpPr>
          <p:cNvPr id="37" name="Rectangle 36">
            <a:extLst>
              <a:ext uri="{FF2B5EF4-FFF2-40B4-BE49-F238E27FC236}">
                <a16:creationId xmlns:a16="http://schemas.microsoft.com/office/drawing/2014/main" id="{653AAA21-6CB0-71CA-76C0-017E5B4A2F41}"/>
              </a:ext>
            </a:extLst>
          </p:cNvPr>
          <p:cNvSpPr/>
          <p:nvPr/>
        </p:nvSpPr>
        <p:spPr>
          <a:xfrm>
            <a:off x="1941071" y="3117645"/>
            <a:ext cx="1434127" cy="456535"/>
          </a:xfrm>
          <a:prstGeom prst="rect">
            <a:avLst/>
          </a:prstGeom>
        </p:spPr>
        <p:txBody>
          <a:bodyPr wrap="square">
            <a:spAutoFit/>
          </a:bodyPr>
          <a:lstStyle/>
          <a:p>
            <a:pPr defTabSz="912819" eaLnBrk="0" hangingPunct="0">
              <a:spcAft>
                <a:spcPts val="200"/>
              </a:spcAft>
              <a:defRPr/>
            </a:pPr>
            <a:r>
              <a:rPr lang="en-GB" sz="1200" b="1" dirty="0">
                <a:solidFill>
                  <a:schemeClr val="bg1"/>
                </a:solidFill>
                <a:cs typeface="Arial" panose="020B0604020202020204" pitchFamily="34" charset="0"/>
              </a:rPr>
              <a:t>Industry Exposure</a:t>
            </a:r>
            <a:endParaRPr lang="en-US" sz="1000" dirty="0">
              <a:solidFill>
                <a:schemeClr val="bg1"/>
              </a:solidFill>
              <a:cs typeface="Arial" panose="020B0604020202020204" pitchFamily="34" charset="0"/>
            </a:endParaRPr>
          </a:p>
          <a:p>
            <a:pPr eaLnBrk="0" hangingPunct="0">
              <a:spcAft>
                <a:spcPts val="600"/>
              </a:spcAft>
              <a:defRPr/>
            </a:pPr>
            <a:r>
              <a:rPr lang="en-US" sz="1000" dirty="0">
                <a:solidFill>
                  <a:schemeClr val="bg1"/>
                </a:solidFill>
                <a:cs typeface="Arial" panose="020B0604020202020204" pitchFamily="34" charset="0"/>
              </a:rPr>
              <a:t>Life Science Domain</a:t>
            </a:r>
          </a:p>
        </p:txBody>
      </p:sp>
      <p:pic>
        <p:nvPicPr>
          <p:cNvPr id="4" name="Picture 3" descr="A person in a grey shirt&#10;&#10;AI-generated content may be incorrect.">
            <a:extLst>
              <a:ext uri="{FF2B5EF4-FFF2-40B4-BE49-F238E27FC236}">
                <a16:creationId xmlns:a16="http://schemas.microsoft.com/office/drawing/2014/main" id="{E8ED4E54-04C1-19B6-9EB8-AA1E5F4291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9270" y="509668"/>
            <a:ext cx="1013791" cy="1226907"/>
          </a:xfrm>
          <a:prstGeom prst="rect">
            <a:avLst/>
          </a:prstGeom>
        </p:spPr>
      </p:pic>
    </p:spTree>
    <p:extLst>
      <p:ext uri="{BB962C8B-B14F-4D97-AF65-F5344CB8AC3E}">
        <p14:creationId xmlns:p14="http://schemas.microsoft.com/office/powerpoint/2010/main" val="257269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otalTime>315</TotalTime>
  <Words>375</Words>
  <Application>Microsoft Office PowerPoint</Application>
  <PresentationFormat>Widescreen</PresentationFormat>
  <Paragraphs>48</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Graphik</vt:lpstr>
      <vt:lpstr>Graphik Black</vt:lpstr>
      <vt:lpstr>Söhne</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REACT .JS developer</dc:title>
  <dc:creator>Periyasamy, Tamizharasi</dc:creator>
  <cp:lastModifiedBy>Shaji, Abhinav</cp:lastModifiedBy>
  <cp:revision>43</cp:revision>
  <dcterms:created xsi:type="dcterms:W3CDTF">2022-04-05T11:34:26Z</dcterms:created>
  <dcterms:modified xsi:type="dcterms:W3CDTF">2026-03-25T08:03:32Z</dcterms:modified>
</cp:coreProperties>
</file>